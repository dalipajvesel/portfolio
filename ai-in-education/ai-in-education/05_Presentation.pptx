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8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F88C5">
              <a:alpha val="30000"/>
            </a:srgbClr>
          </a:solidFill>
          <a:ln w="12700">
            <a:solidFill>
              <a:srgbClr val="3F88C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ΤΕΧΝΗΤΗ ΝΟΗΜΟΣΥΝΗ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στην Εκπαίδευση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972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Συστηματική Ανασκόπηση Βιβλιογραφίας για τα Generative AI Chatbots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την Υιοθέτησή τους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Τριτο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βάθμ</a:t>
            </a:r>
            <a:r>
              <a:rPr lang="el-GR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Εκπαίδευση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Κυριάκος Καμπουρόπουλος (20390081)  ·  Σταμάτιος Παρασκευόπουλος (23390023)  ·  Ρόμπερτ Πολοβίνα (23390338)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Λέσλυν Αΐσα Χατζημπεκιάρη Μεχία (24390250)  ·  Βεσέλ Νταλίπαϊ (161173)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Πανεπιστήμιο Δυτικής Αττικής  ·  Τμήμα Μηχανικών Πληροφορικής και Υπολογιστών  ·  Σύνταξη Τεχνικών Κειμένων  ·  2025</a:t>
            </a:r>
            <a:r>
              <a:rPr lang="el-GR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Δομή Παρουσίασης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Εισαγωγή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Άνοδος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της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Τ</a:t>
            </a:r>
            <a:r>
              <a:rPr lang="el-GR" sz="1300" i="1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εχνητής</a:t>
            </a:r>
            <a:r>
              <a:rPr lang="el-GR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Νοημοσύνης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στην εκπαίδευση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Ερευνητικά Ερωτήματα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Πέντε ερωτήματα που καθοδηγούν την έρευνα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926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Μεθοδολογία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Πλαίσιο Arksey &amp; O’Malley (2005)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Ευρήματα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Φοιτητές  ·  Καθηγητές  ·  UNESCO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Αποτελέσματα &amp; Συζήτηση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Οφέλη, κίνδυνοι και προτάσεις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544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Συμπεράσματα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55448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 και επόμενα βήματα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Εισαγωγή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640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ραγδαία υιοθέτηση εργαλείων γενετικής </a:t>
            </a:r>
            <a:r>
              <a:rPr lang="el-GR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Τεχνητής Νοημοσύνης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από φοιτητές αναδιαμορφώνει την εκπαιδευτική διαδικασία.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AI-powered chatbots προσφέρουν: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Άμεση πρόσβαση σε εξηγήσεις και feedback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Υποστήριξη σε γραπτές εργασίες και έρευνα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Εξατομικευμένη εμπειρία μάθησης</a:t>
            </a:r>
            <a:endParaRPr lang="en-US" sz="1600" dirty="0"/>
          </a:p>
          <a:p>
            <a:pPr marL="0" indent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Ωστόσο, εγείρουν σοβαρές ανησυχίες:</a:t>
            </a:r>
            <a:endParaRPr lang="en-US" sz="16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Παραβίαση ακαδημαϊκής ακεραιότητας, παραπληροφόρηση, μεροληψία και υπερεξάρτηση.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371600"/>
            <a:ext cx="41148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0" y="2286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749808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ενεργοί χρήστες σε 2 μήνες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22860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4754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ταχύτερα αναπτυσσόμενη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καταναλωτική εφαρμογή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ιστορία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Ερευνητικά Ερωτήματα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09728" cy="141732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είναι οι αντιλήψεις των φοιτητών για τα AI chatbots στην εκπαίδευση;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109728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Ποιοι είναι οι κύριοι λόγοι που οι φοιτητές χρησιμοποιούν AI chatbots;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09728" cy="141732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Ποια οφέλη και κίνδυνοι συνδέονται με τη χρήση των AI chatbots στην εκπαίδευση;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109728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αντιλαμβάνονται και αντιδρούν οι εκπαιδευτικοί στη χρήση των AI chatbots;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466344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4663440"/>
            <a:ext cx="109728" cy="141732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0" y="4800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0" y="5212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οδηγίες και θεσμικές πρακτικές υποστηρίζουν την υπεύθυνη υιοθέτηση;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Μεθοδολογία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Πλαίσιο Arksey &amp; O’Malley (2005) </a:t>
            </a:r>
            <a:r>
              <a:rPr lang="el-GR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Πέντε Στάδια Ανασκόπησης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011680"/>
            <a:ext cx="1965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" y="25603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Διατύπωση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Ερευνητικού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Ερωτήματος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1468" y="2999232"/>
            <a:ext cx="237744" cy="219456"/>
          </a:xfrm>
          <a:prstGeom prst="right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57500" y="2011680"/>
            <a:ext cx="1965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044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48940" y="25603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Εντοπισμός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Σχετικών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Ερευνών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1748" y="2999232"/>
            <a:ext cx="237744" cy="219456"/>
          </a:xfrm>
          <a:prstGeom prst="right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97780" y="2011680"/>
            <a:ext cx="1965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89220" y="25603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Κριτήρια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Επιλογής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Ερευνών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82028" y="2999232"/>
            <a:ext cx="237744" cy="219456"/>
          </a:xfrm>
          <a:prstGeom prst="right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8060" y="2011680"/>
            <a:ext cx="1965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0100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01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9500" y="25603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Καταγραφή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Δεδομένων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22308" y="2999232"/>
            <a:ext cx="237744" cy="219456"/>
          </a:xfrm>
          <a:prstGeom prst="right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78340" y="2011680"/>
            <a:ext cx="19659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4128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41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69780" y="25603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 και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Παρουσίαση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Αποτελεσμάτων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Πηγές: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 ·  ACM Digital Library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Περίοδος: </a:t>
            </a:r>
            <a:r>
              <a:rPr lang="el-G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Απρίλιος -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Μάιος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Λέξεις-κλειδιά: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education, “large language models” OR “generative AI” AND learning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Σύντομη Ιστορία των Chatbots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9418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3657600"/>
            <a:ext cx="457200" cy="457200"/>
          </a:xfrm>
          <a:prstGeom prst="ellipse">
            <a:avLst/>
          </a:prstGeom>
          <a:solidFill>
            <a:srgbClr val="3F88C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F8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ELIZA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Weizenbaum, MIT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η πρώτη απόπειρα μίμησης ανθρώπινης συνομιλίας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3657600"/>
            <a:ext cx="457200" cy="457200"/>
          </a:xfrm>
          <a:prstGeom prst="ellipse">
            <a:avLst/>
          </a:prstGeom>
          <a:solidFill>
            <a:srgbClr val="3F88C5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F8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Wallace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κερδίζει το βραβείο Loebner το 2000, 2001, 2004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2600" y="3657600"/>
            <a:ext cx="457200" cy="45720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μοντέλο GPT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η ταχύτερα αναπτυσσόμενη εφαρμογή στην ιστορία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τη δεκαετία του 1960 σε ένα chatbot με 100 εκατομμύρια ενεργούς χρήστες σε 2 μήνες </a:t>
            </a:r>
            <a:r>
              <a:rPr lang="el-GR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μια διαδρομή 60 ετών.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Φοιτητές: 4 Μελέτες Περίπτωσης (RQ1 · RQ2)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40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Η.Α.Ε.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1965960"/>
            <a:ext cx="1371600" cy="114300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147976"/>
            <a:ext cx="1371600" cy="96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331720" y="1965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Shuhaiber et al. (2025)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23317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Κύρια χρήση: εξήγηση εννοιών, σύνοψη πληροφοριών, παράφραση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5440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Αυστραλία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1371600" cy="118872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955280" y="1965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Gruenhagen et al. (2024)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23317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Ουδέτερη στάση στο αν είναι «cheating»· οφέλη για ΑΜΕΑ και δυσλεξία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5440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Χονγκ Κονγκ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" y="4206240"/>
            <a:ext cx="1371600" cy="118872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251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339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2331720" y="4206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 &amp; Hu (2023)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31720" y="4572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Αποδοχή ως «καλός συμφοιτητής»· ανησυχία για διαφάνεια και εξάρτηση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352044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72200" y="3520440"/>
            <a:ext cx="5440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Η.Π.Α.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400800" y="4206240"/>
            <a:ext cx="1371600" cy="118872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251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40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955280" y="4206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 et al. (2023)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4572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Μάθημα φυσικής: 85% σωστές απαντήσεις· τυφλή εμπιστοσύνη σε «trust group»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Τέσσερις ή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</a:t>
            </a:r>
            <a:r>
              <a:rPr lang="el-GR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l-GR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</a:t>
            </a: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ένα κοινό μοτίβο: ευρεία αποδοχή με σαφείς ανησυχίες για αξιοπιστία και ηθική.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Οφέλη Χρήσης (RQ3)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Εξατομικευμένη Μάθηση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Προσαρμογή στο επίπεδο, τις ανάγκες και τον ρυθμό κάθε φοιτητή.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Άμεσο Feedback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Διαθεσιμότητα 24/7</a:t>
            </a:r>
            <a:r>
              <a:rPr lang="el-GR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</a:t>
            </a:r>
            <a:r>
              <a:rPr lang="el-GR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αναμονή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58200" y="160020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58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9828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Καταιγισμός Ιδεών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9828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Σημείο εκκίνησης για συγγραφή, brainstorming και έρευνα.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41732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Προσβασιμότητα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Σημαντικό όφελος για φοιτητές με δυσλεξία ή με ξένη μητρική γλώσσα.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338328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Εξοικονόμηση Χρόνου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5780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 πληροφοριών, μορφοποίηση, συλλογή παραπομπών.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58200" y="3383280"/>
            <a:ext cx="502920" cy="502920"/>
          </a:xfrm>
          <a:prstGeom prst="ellipse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58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09828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Κίνητρο &amp; Εμπλοκή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9828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Πιο διαδραστική και «παιγνιώδης» εμπειρία μάθησης.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Κίνδυνοι &amp; Περιορισμοί (RQ3)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Αναξιοπιστία &amp; «Παραισθήσεις»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Λάθη παρουσιάζονται με βεβαιότητα· οι χρήστες χωρίς γνώση παραπλανώνται.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Ακαδημαϊκή Ακεραιότητα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Λογοκλοπή και δυσκολία διάκρισης ανθρώπινου / AI περιεχομένου.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58200" y="160020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58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9828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Εξάρτηση &amp; Διάβρωση Δεξιοτήτων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98280" y="19659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Κίνδυνος μειωμένης κριτικής σκέψης και αυτονομίας με την πάροδο του χρόνου.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41732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Ιδιωτικότητα Δεδομένων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prompts μπορεί να χρησιμοποιηθούν για εκπαίδευση μοντέλων.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338328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Ψηφιακή Ανισότητα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5780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Πρόσβαση στις premium δυνατότητες ως πηγή ανισότητα</a:t>
            </a:r>
            <a:r>
              <a:rPr lang="el-GR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ς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1546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58200" y="338328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58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098280" y="3337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«Μαύρο Κουτί»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098280" y="3749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Έλλειψη διαφάνειας πίσω από τις απαντήσεις· εμπόδιο εμπιστοσύνης.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Καθηγητές &amp; Εκπαιδευτικοί (RQ4)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«Reskilling και Upskilling»</a:t>
            </a:r>
            <a:r>
              <a:rPr lang="el-GR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η </a:t>
            </a:r>
            <a:r>
              <a:rPr lang="el-GR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Τεχνητή Νοημοσύνη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ως φυσική εξέλιξη μετά την αριθμομηχανή και τις μηχανές αναζήτησης.</a:t>
            </a:r>
            <a:endParaRPr lang="en-US" sz="1600" dirty="0"/>
          </a:p>
          <a:p>
            <a:pPr marL="0" indent="0">
              <a:buNone/>
            </a:pPr>
            <a:r>
              <a:rPr lang="el-GR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Giannakos et al. (2025)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73152" cy="169164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Διευκόλυνση Διδασκαλίας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Ταχύτερη βαθμολόγηση, δημιουργία προγραμμάτων μαθήματος, εξατομικευμέν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feedback.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606040"/>
            <a:ext cx="73152" cy="169164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Νέες Δεξιότητες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Μετάβαση σε υβριδική διαδικασία ανθρώπου-μηχανής· καλλιέργεια κριτικής σκέψης φοιτητών.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73152" cy="169164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Ευθύνη Επίβλεψης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(2023): ο εκπαιδευτικός παραμένει υπεύθυνος για την αξιολόγηση και την προσαρμογή των αποτελεσμάτων Τ</a:t>
            </a:r>
            <a:r>
              <a:rPr lang="el-GR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εχνητής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Νοημοσύνης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480560"/>
            <a:ext cx="73152" cy="169164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4526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Ανησυχίες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493776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Denny et al. (2023): κίνδυνος διεύρυνσης ανισοτήτων· ανάγκη συνεχούς 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αξιολόγησης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σε 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πραγματικές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ίθουσες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διδασκαλίας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Καθοδήγηση UNESCO (RQ5)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Τέσσερις βασικές προτάσεις για υπεύθυνη υιοθέτηση σε διεθνές επίπεδο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37/194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χώρες με νομοθεσία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23060" y="4206240"/>
            <a:ext cx="54864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Διεθνείς ή εθνικοί κανονισμοί προστασίας προσωπικών δεδομένων.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6916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29000" y="169164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Ηθική Χρήση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697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χώρες με κανονισμούς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03420" y="4206240"/>
            <a:ext cx="54864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43891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Σαφώς καθορισμένα πλαίσια ηθικής, συμπεριλαμβανομένης της εκπαίδευσης.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Πνευματικά Δικαιώματα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2697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644652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Κίνα · ΕΕ · ΗΠΑ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83780" y="4206240"/>
            <a:ext cx="54864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43891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Προσαρμογή της νομοθεσίας για περιεχόμενο που παράγεται από ΤΝ.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9720" y="169164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89720" y="169164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Μακροπρόθεσμες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Επιπτώσεις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0" y="2697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000" dirty="0"/>
          </a:p>
        </p:txBody>
      </p:sp>
      <p:sp>
        <p:nvSpPr>
          <p:cNvPr id="33" name="Text 31"/>
          <p:cNvSpPr/>
          <p:nvPr/>
        </p:nvSpPr>
        <p:spPr>
          <a:xfrm>
            <a:off x="932688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ακόμα άγνωστες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64140" y="4206240"/>
            <a:ext cx="54864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372600" y="43891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Ανάγκη μελετών· </a:t>
            </a:r>
            <a:r>
              <a:rPr lang="el-GR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συνεχώς εξελισσόμενα μοντέλα ΤΝ δυσκολεύουν την πρόβλεψη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537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Συμπεράσματα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Τεχνητή Νοημοσύνη στην Εκπαίδευση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solidFill>
            <a:srgbClr val="3F88C5"/>
          </a:solidFill>
          <a:ln w="12700">
            <a:solidFill>
              <a:srgbClr val="3F8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Φοιτητές: Ενθουσιασμός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Σύμπληρωμα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όχι αντικαταστάτης της ανθρώπινης νοημοσύνης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Εξοικονόμηση χρόνου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σύνοψη, παραπομπές, διόρθωση κειμένων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Εξατομίκευση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προσβασιμότητα σε ευάλωτες ομάδες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Νέα κουλτούρα μάθησης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εργαλεία που εξελίσσονται διαρκώς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54864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Εκπαιδευτικοί: Επιφύλαξη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Παραπληροφόρηση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υποβάθμιση της ακαδημαϊκής ακεραιότητας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Ζητήματα ιδιωτικότητας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δεδομένων με αργή νομοθετική πρόοδο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Διεύρυνση ανισοτήτων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πρόσβασης σε προηγμένα μοντέλα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Ανάγκη πολιτικών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πα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γκόσμιο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επίπ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εδο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για διαφάνεια και εμπιστοσύνη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Συγχρονισμένη παγκόσμια συνεργασία είναι απαραίτητη για ένα βιώσιμο και υπεύθυνο μοντέλο υιοθέτησης.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3F88C5">
              <a:alpha val="20000"/>
            </a:srgbClr>
          </a:solidFill>
          <a:ln w="12700">
            <a:solidFill>
              <a:srgbClr val="3F88C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Σας Ευχαριστούμε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5532120" y="3657600"/>
            <a:ext cx="10972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 &amp; Συζήτηση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Ομάδα 37  ·  Πανεπιστήμιο Δυτικής Αττικής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1048</Words>
  <Application>Microsoft Office PowerPoint</Application>
  <PresentationFormat>Ευρεία οθόνη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Τεχνητή Νοημοσύνη στην Εκπαίδευση</dc:title>
  <dc:subject>PptxGenJS Presentation</dc:subject>
  <dc:creator>Group 37</dc:creator>
  <cp:lastModifiedBy>ΒΕΣΕΛ ΝΤΑΛΙΠΑΪ</cp:lastModifiedBy>
  <cp:revision>31</cp:revision>
  <dcterms:created xsi:type="dcterms:W3CDTF">2026-05-04T15:43:27Z</dcterms:created>
  <dcterms:modified xsi:type="dcterms:W3CDTF">2026-05-18T07:44:21Z</dcterms:modified>
</cp:coreProperties>
</file>